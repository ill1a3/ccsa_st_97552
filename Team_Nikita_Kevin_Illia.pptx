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31e687a79849c4" /><Relationship Type="http://schemas.openxmlformats.org/officeDocument/2006/relationships/extended-properties" Target="/docProps/app.xml" Id="Ra17fa4f06c0245e4" /><Relationship Type="http://schemas.openxmlformats.org/officeDocument/2006/relationships/officeDocument" Target="/ppt/presentation.xml" Id="R21182355f54a4092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a550df2af9d64e85"/>
  </p:sldMasterIdLst>
  <p:notesMasterIdLst>
    <p:notesMasterId xmlns:r="http://schemas.openxmlformats.org/officeDocument/2006/relationships" r:id="R84b024e00b04486e"/>
  </p:notesMasterIdLst>
  <p:sldIdLst>
    <p:sldId xmlns:r="http://schemas.openxmlformats.org/officeDocument/2006/relationships" id="256" r:id="R4936ba5c48a3437e"/>
    <p:sldId xmlns:r="http://schemas.openxmlformats.org/officeDocument/2006/relationships" id="257" r:id="R4a3db64b1cac463a"/>
    <p:sldId xmlns:r="http://schemas.openxmlformats.org/officeDocument/2006/relationships" id="258" r:id="R9480d81595d8498d"/>
    <p:sldId xmlns:r="http://schemas.openxmlformats.org/officeDocument/2006/relationships" id="259" r:id="R29ce8a91e7ef4d08"/>
    <p:sldId xmlns:r="http://schemas.openxmlformats.org/officeDocument/2006/relationships" id="260" r:id="R036d9c031cc7418b"/>
    <p:sldId xmlns:r="http://schemas.openxmlformats.org/officeDocument/2006/relationships" id="261" r:id="R331480462bef4468"/>
    <p:sldId xmlns:r="http://schemas.openxmlformats.org/officeDocument/2006/relationships" id="262" r:id="R800dab81b91a4e11"/>
    <p:sldId xmlns:r="http://schemas.openxmlformats.org/officeDocument/2006/relationships" id="263" r:id="Ra4494930b1f94b35"/>
  </p:sldIdLst>
  <p:sldSz cx="18288000" cy="10287000"/>
  <p:notesSz cx="6858000" cy="9144000"/>
  <p:embeddedFontLst>
    <p:embeddedFont>
      <p:font typeface="Roboto Bold"/>
      <p:regular xmlns:r="http://schemas.openxmlformats.org/officeDocument/2006/relationships" r:id="R61f4a14a55cb46f0"/>
    </p:embeddedFont>
    <p:embeddedFont>
      <p:font typeface="Roboto"/>
      <p:regular xmlns:r="http://schemas.openxmlformats.org/officeDocument/2006/relationships" r:id="R0271255c446d43c7"/>
    </p:embeddedFont>
    <p:embeddedFont>
      <p:font typeface="Arial Bold"/>
      <p:regular xmlns:r="http://schemas.openxmlformats.org/officeDocument/2006/relationships" r:id="Re34c4133af7947e5"/>
    </p:embeddedFont>
    <p:embeddedFont>
      <p:font typeface="Arial"/>
      <p:regular xmlns:r="http://schemas.openxmlformats.org/officeDocument/2006/relationships" r:id="Rd16d004fd44f47ec"/>
    </p:embeddedFont>
    <p:embeddedFont>
      <p:font typeface="Consolas"/>
      <p:regular xmlns:r="http://schemas.openxmlformats.org/officeDocument/2006/relationships" r:id="R4f0e62e5cf8746d1"/>
    </p:embeddedFont>
  </p:embeddedFontLst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66c6687b6f4c3c" /><Relationship Type="http://schemas.openxmlformats.org/officeDocument/2006/relationships/slideMaster" Target="/ppt/slideMasters/slideMaster1.xml" Id="Ra550df2af9d64e85" /><Relationship Type="http://schemas.openxmlformats.org/officeDocument/2006/relationships/notesMaster" Target="/ppt/notesMasters/notesMaster1.xml" Id="R84b024e00b04486e" /><Relationship Type="http://schemas.openxmlformats.org/officeDocument/2006/relationships/presProps" Target="/ppt/presProps.xml" Id="R172e965a952e435a" /><Relationship Type="http://schemas.openxmlformats.org/officeDocument/2006/relationships/viewProps" Target="/ppt/viewProps.xml" Id="R90014d133cd14b13" /><Relationship Type="http://schemas.openxmlformats.org/officeDocument/2006/relationships/tableStyles" Target="/ppt/tableStyles.xml" Id="Rca9d81d384f543ac" /><Relationship Type="http://schemas.openxmlformats.org/officeDocument/2006/relationships/font" Target="/ppt/fonts/font.dat" Id="R61f4a14a55cb46f0" /><Relationship Type="http://schemas.openxmlformats.org/officeDocument/2006/relationships/font" Target="/ppt/fonts/font2.dat" Id="R0271255c446d43c7" /><Relationship Type="http://schemas.openxmlformats.org/officeDocument/2006/relationships/font" Target="/ppt/fonts/font3.dat" Id="Re34c4133af7947e5" /><Relationship Type="http://schemas.openxmlformats.org/officeDocument/2006/relationships/font" Target="/ppt/fonts/font4.dat" Id="Rd16d004fd44f47ec" /><Relationship Type="http://schemas.openxmlformats.org/officeDocument/2006/relationships/font" Target="/ppt/fonts/font5.dat" Id="R4f0e62e5cf8746d1" /><Relationship Type="http://schemas.openxmlformats.org/officeDocument/2006/relationships/slide" Target="/ppt/slides/slide1.xml" Id="R4936ba5c48a3437e" /><Relationship Type="http://schemas.openxmlformats.org/officeDocument/2006/relationships/slide" Target="/ppt/slides/slide2.xml" Id="R4a3db64b1cac463a" /><Relationship Type="http://schemas.openxmlformats.org/officeDocument/2006/relationships/slide" Target="/ppt/slides/slide3.xml" Id="R9480d81595d8498d" /><Relationship Type="http://schemas.openxmlformats.org/officeDocument/2006/relationships/slide" Target="/ppt/slides/slide4.xml" Id="R29ce8a91e7ef4d08" /><Relationship Type="http://schemas.openxmlformats.org/officeDocument/2006/relationships/slide" Target="/ppt/slides/slide5.xml" Id="R036d9c031cc7418b" /><Relationship Type="http://schemas.openxmlformats.org/officeDocument/2006/relationships/slide" Target="/ppt/slides/slide6.xml" Id="R331480462bef4468" /><Relationship Type="http://schemas.openxmlformats.org/officeDocument/2006/relationships/slide" Target="/ppt/slides/slide7.xml" Id="R800dab81b91a4e11" /><Relationship Type="http://schemas.openxmlformats.org/officeDocument/2006/relationships/slide" Target="/ppt/slides/slide8.xml" Id="Ra4494930b1f94b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693834c913a4de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450edc53a3401d" /><Relationship Type="http://schemas.openxmlformats.org/officeDocument/2006/relationships/notesMaster" Target="/ppt/notesMasters/notesMaster1.xml" Id="R501edfb79b0a43a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82f89bd3c934c42" /><Relationship Type="http://schemas.openxmlformats.org/officeDocument/2006/relationships/notesMaster" Target="/ppt/notesMasters/notesMaster1.xml" Id="Rd0a8357fb8f34f5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c52b3fe93ad4641" /><Relationship Type="http://schemas.openxmlformats.org/officeDocument/2006/relationships/notesMaster" Target="/ppt/notesMasters/notesMaster1.xml" Id="Ra54e3e5c69554f0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2cc30cd7fe1480a" /><Relationship Type="http://schemas.openxmlformats.org/officeDocument/2006/relationships/notesMaster" Target="/ppt/notesMasters/notesMaster1.xml" Id="R215fa5d874ba47f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5f8dbaabcd24871" /><Relationship Type="http://schemas.openxmlformats.org/officeDocument/2006/relationships/notesMaster" Target="/ppt/notesMasters/notesMaster1.xml" Id="R0ecb04f6e8c64af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c38c171e22148bb" /><Relationship Type="http://schemas.openxmlformats.org/officeDocument/2006/relationships/notesMaster" Target="/ppt/notesMasters/notesMaster1.xml" Id="Ra59ed491276d42d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b67366706db457b" /><Relationship Type="http://schemas.openxmlformats.org/officeDocument/2006/relationships/notesMaster" Target="/ppt/notesMasters/notesMaster1.xml" Id="Red553e5a7c53476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b9e9e65cd824aed" /><Relationship Type="http://schemas.openxmlformats.org/officeDocument/2006/relationships/notesMaster" Target="/ppt/notesMasters/notesMaster1.xml" Id="Rcf73352be2d34c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e7e587061940e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164f64350a48c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a8a76061984bc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1a8de754654bb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88fedcf9784a7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3c859875e7419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5a9caceb474ba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346c58de28404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982a0a73ff4b9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dfcad34aa447a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61c8580afc4575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9BB8AEC-919C-4A4F-BB33-70A37BD18EC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BCA54BF5-61EA-40B8-8659-1E24B77D339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F91C378-2C67-4BD1-88D1-CAE028262B7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290A040-0CE1-4E12-BDFA-5447FC07034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D62F6E9-069D-4A49-8332-DF5FA696B4E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3A71855-7F80-4B52-9595-700F8ED133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5CEC6E5-E3F8-441B-AC5A-39655C32FDF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4B94856-C24C-42C7-B755-770F382A797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71D69F8-3D89-435B-BDC9-933B07979FE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FF557A3-834A-4EF3-8A63-766DFBAB5C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2A7775E-6793-4D32-982C-BCA867F1BF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B0ECF95-D9A7-4CA8-8874-892B22FC01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D072788-2655-431B-B37A-894E8EC949D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AA6C05F-A864-4D8C-B845-B8CE2BEDED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BA36A9-6720-4063-AF0D-1F2999AEC2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C4CA16F-EDFE-4F63-AD00-1B80ED5F29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C09C233-617D-4408-913C-B6B3D6C228E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E7F5FFC-638F-4328-9020-7CE78203AF5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4B69762-D6D5-458B-9D5B-57C4C98A499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8311431-B7C2-43CE-8339-A258A17061A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A0B3B69-6248-4494-9947-CD8443FAB0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93AB7C6-6621-470C-A5A5-8DE087316B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5AF455D-C2D7-42AF-B2DC-3330B6C76C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B0255557-B82F-4018-9F8D-BCCACB772DD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0E10186D-53FB-4FEB-A08A-D33CD526EFE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43D7EB33-323C-44ED-929D-3B5BC877666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4D7EE1C7-EB70-4BD5-A49D-FFCE33086A1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C41A2427-0644-457B-8774-EBB2B9B1B0A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1BF9C8E4-AA13-4D0D-B00F-26A70AA52A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2BDC5CE-C33F-4142-A748-290197E457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97908DBA-571E-4D90-8409-FDEA7F75636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1A2190A2-DFFB-4CE0-885B-95FB91EF721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672F620-1BF9-439F-A1B1-9FF467CD2C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F2C59243-6BA9-4C76-9A2B-0C0E47CDAED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2F82F905-630F-4CFA-869F-3AEF1012CEA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04C36B5-3B04-4CEB-A8FF-1F5235509F2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55EB61E-A1C1-4AD9-98E8-AF1300008A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068AEF2-AFB5-4FB1-A253-11740D465BB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97269C1-32D3-4B6B-8296-550C6F8D6BC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01DADC1-04E9-493E-B802-EF4B793EC20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87914C9-8DD1-41B5-AB77-0B32F5DAD83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43F9D56-D4E4-4517-98A5-27588584374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CCA7263-BE4E-4615-B37A-1543A5E6BD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68F3EDD4-4D9B-4B37-90D5-1CCEFD6D0E7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A1E4DAF-DE99-4B65-BA58-0B3F7134F1A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E893F19-0702-406B-B833-FF5AC573F2C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9DF22EF-86B8-4653-B913-AACAB60B600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4D7E69A-B551-4CB5-9DD9-B40E3D6F0FE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F07F6EB-C925-4F56-83BA-CC214DD071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7A2F0545-ED0D-48AA-87FD-9AB94700A02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99FACFD-862A-4AE5-8137-08963C028E9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3E2F4C6-0B10-429E-8E73-A3697665006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179571A-1B31-4393-A3B0-F2315D5BB1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7AD848BB-5081-4C1E-83D9-F4A769A077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BE3871E-C33D-469B-A286-03BCB13809E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BFB913F-761E-4228-800F-3144F9632CF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4158DA3-380E-4AF4-9BB1-6EB4B5AE74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BBF51F0-7408-47B4-966C-706C539089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ab4875d7ba4f5c" /><Relationship Type="http://schemas.openxmlformats.org/officeDocument/2006/relationships/slideLayout" Target="/ppt/slideLayouts/slideLayout1.xml" Id="Rffccbed3bf6d4a9c" /><Relationship Type="http://schemas.openxmlformats.org/officeDocument/2006/relationships/slideLayout" Target="/ppt/slideLayouts/slideLayout2.xml" Id="R7bb46392a0164af9" /><Relationship Type="http://schemas.openxmlformats.org/officeDocument/2006/relationships/slideLayout" Target="/ppt/slideLayouts/slideLayout3.xml" Id="R44bdcb693d0d4b2c" /><Relationship Type="http://schemas.openxmlformats.org/officeDocument/2006/relationships/slideLayout" Target="/ppt/slideLayouts/slideLayout4.xml" Id="R0a6ea15b44e544af" /><Relationship Type="http://schemas.openxmlformats.org/officeDocument/2006/relationships/slideLayout" Target="/ppt/slideLayouts/slideLayout5.xml" Id="R87fc0ab2227c4fd7" /><Relationship Type="http://schemas.openxmlformats.org/officeDocument/2006/relationships/slideLayout" Target="/ppt/slideLayouts/slideLayout6.xml" Id="R9b323ce000074a91" /><Relationship Type="http://schemas.openxmlformats.org/officeDocument/2006/relationships/slideLayout" Target="/ppt/slideLayouts/slideLayout7.xml" Id="R1a1c9b4a1e184d69" /><Relationship Type="http://schemas.openxmlformats.org/officeDocument/2006/relationships/slideLayout" Target="/ppt/slideLayouts/slideLayout8.xml" Id="R8a6016eb356045d1" /><Relationship Type="http://schemas.openxmlformats.org/officeDocument/2006/relationships/slideLayout" Target="/ppt/slideLayouts/slideLayout9.xml" Id="Rc4c8b8ec0e3c41fe" /><Relationship Type="http://schemas.openxmlformats.org/officeDocument/2006/relationships/slideLayout" Target="/ppt/slideLayouts/slideLayout10.xml" Id="Ra1ad1dc70db94c08" /><Relationship Type="http://schemas.openxmlformats.org/officeDocument/2006/relationships/slideLayout" Target="/ppt/slideLayouts/slideLayout11.xml" Id="R3a5f8e98bc134b0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96454D92-5A57-4263-B6BE-1E586A13D7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DB41E78-0A7E-444B-917F-2370354AA9E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88CCD37-ECE4-436B-8617-3EE554A9166D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4064E57-7FDB-4735-BF9C-F785F66BB6F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8237AB2-9E58-4393-9921-79D08FEEC24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ccbed3bf6d4a9c"/>
    <p:sldLayoutId xmlns:r="http://schemas.openxmlformats.org/officeDocument/2006/relationships" id="2147483650" r:id="R7bb46392a0164af9"/>
    <p:sldLayoutId xmlns:r="http://schemas.openxmlformats.org/officeDocument/2006/relationships" id="2147483651" r:id="R44bdcb693d0d4b2c"/>
    <p:sldLayoutId xmlns:r="http://schemas.openxmlformats.org/officeDocument/2006/relationships" id="2147483652" r:id="R0a6ea15b44e544af"/>
    <p:sldLayoutId xmlns:r="http://schemas.openxmlformats.org/officeDocument/2006/relationships" id="2147483653" r:id="R87fc0ab2227c4fd7"/>
    <p:sldLayoutId xmlns:r="http://schemas.openxmlformats.org/officeDocument/2006/relationships" id="2147483654" r:id="R9b323ce000074a91"/>
    <p:sldLayoutId xmlns:r="http://schemas.openxmlformats.org/officeDocument/2006/relationships" id="2147483655" r:id="R1a1c9b4a1e184d69"/>
    <p:sldLayoutId xmlns:r="http://schemas.openxmlformats.org/officeDocument/2006/relationships" id="2147483656" r:id="R8a6016eb356045d1"/>
    <p:sldLayoutId xmlns:r="http://schemas.openxmlformats.org/officeDocument/2006/relationships" id="2147483657" r:id="Rc4c8b8ec0e3c41fe"/>
    <p:sldLayoutId xmlns:r="http://schemas.openxmlformats.org/officeDocument/2006/relationships" id="2147483658" r:id="Ra1ad1dc70db94c08"/>
    <p:sldLayoutId xmlns:r="http://schemas.openxmlformats.org/officeDocument/2006/relationships" id="2147483659" r:id="R3a5f8e98bc134b09"/>
  </p:sldLayoutIdLst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bdccb2e68d941f0" /><Relationship Type="http://schemas.openxmlformats.org/officeDocument/2006/relationships/image" Target="/ppt/media/image.png" Id="Rde60049af0124264" /><Relationship Type="http://schemas.openxmlformats.org/officeDocument/2006/relationships/image" Target="/ppt/media/image2.png" Id="Rff6d9faa45c74e60" /><Relationship Type="http://schemas.openxmlformats.org/officeDocument/2006/relationships/notesSlide" Target="/ppt/notesSlides/notesSlide1.xml" Id="Rfaaf32f70178427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9d06095b3fa4e69" /><Relationship Type="http://schemas.openxmlformats.org/officeDocument/2006/relationships/image" Target="/ppt/media/image3.png" Id="R704d245453994428" /><Relationship Type="http://schemas.openxmlformats.org/officeDocument/2006/relationships/notesSlide" Target="/ppt/notesSlides/notesSlide2.xml" Id="R933e12a63db34d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8b6d66e9bc44e31" /><Relationship Type="http://schemas.openxmlformats.org/officeDocument/2006/relationships/image" Target="/ppt/media/image3.png" Id="R6cb3b3a1ff88408c" /><Relationship Type="http://schemas.openxmlformats.org/officeDocument/2006/relationships/notesSlide" Target="/ppt/notesSlides/notesSlide3.xml" Id="R6bc8d5dc86d24a0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1b5d351d38341e0" /><Relationship Type="http://schemas.openxmlformats.org/officeDocument/2006/relationships/image" Target="/ppt/media/image3.png" Id="Rcf962fa33c1946d3" /><Relationship Type="http://schemas.openxmlformats.org/officeDocument/2006/relationships/notesSlide" Target="/ppt/notesSlides/notesSlide4.xml" Id="Rd3b26ff96fbb4e7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a3dabe5a0ce499c" /><Relationship Type="http://schemas.openxmlformats.org/officeDocument/2006/relationships/image" Target="/ppt/media/image3.png" Id="R51551e8c9a0245d2" /><Relationship Type="http://schemas.openxmlformats.org/officeDocument/2006/relationships/notesSlide" Target="/ppt/notesSlides/notesSlide5.xml" Id="R51ca94432c8444d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cffbf0cd3ab490e" /><Relationship Type="http://schemas.openxmlformats.org/officeDocument/2006/relationships/image" Target="/ppt/media/image3.png" Id="R7bde8f3ab5e647ca" /><Relationship Type="http://schemas.openxmlformats.org/officeDocument/2006/relationships/notesSlide" Target="/ppt/notesSlides/notesSlide6.xml" Id="R6123a5ce3d2b4e4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0833f91cc0b447b" /><Relationship Type="http://schemas.openxmlformats.org/officeDocument/2006/relationships/image" Target="/ppt/media/image3.png" Id="R6d7874f0ad41410e" /><Relationship Type="http://schemas.openxmlformats.org/officeDocument/2006/relationships/notesSlide" Target="/ppt/notesSlides/notesSlide7.xml" Id="R725674064b804d5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8ae90d150d54794" /><Relationship Type="http://schemas.openxmlformats.org/officeDocument/2006/relationships/image" Target="/ppt/media/image3.png" Id="R6fd28b45a94e4dad" /><Relationship Type="http://schemas.openxmlformats.org/officeDocument/2006/relationships/notesSlide" Target="/ppt/notesSlides/notesSlide8.xml" Id="R081644246e18478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4FD17432-3CDC-44FD-90C3-CD9D0A984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e60049af0124264"/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F38D84AC-03C0-4309-A1AF-E8462AE6E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00625" y="209550"/>
            <a:ext cx="12639675" cy="9439275"/>
          </a:xfrm>
          <a:custGeom xmlns:a="http://schemas.openxmlformats.org/drawingml/2006/main">
            <a:rect l="l" t="t" r="r" b="b"/>
            <a:pathLst>
              <a:path w="12639675" h="9439275">
                <a:moveTo>
                  <a:pt x="0" y="0"/>
                </a:moveTo>
                <a:lnTo>
                  <a:pt x="12639675" y="0"/>
                </a:lnTo>
                <a:lnTo>
                  <a:pt x="12639675" y="9439275"/>
                </a:lnTo>
                <a:lnTo>
                  <a:pt x="0" y="943927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f6d9faa45c74e60"/>
            <a:stretch>
              <a:fillRect l="0" t="0" r="0" b="0"/>
            </a:stretch>
          </a:blipFill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617EDE9E-61EF-4FA5-A9B2-856FC7F32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1888" y="1572704"/>
            <a:ext cx="6967404" cy="519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0225"/>
              </a:lnSpc>
              <a:buNone/>
            </a:pPr>
            <a:r>
              <a:rPr sz="8519" b="1" spc="170">
                <a:solidFill>
                  <a:srgbClr val="FFFFFF"/>
                </a:solidFill>
                <a:latin typeface="Roboto Bold"/>
                <a:ea typeface="Roboto Bold"/>
                <a:cs typeface="Roboto Bold"/>
              </a:rPr>
              <a:t>Fibonacci</a:t>
            </a:r>
          </a:p>
          <a:p xmlns:a="http://schemas.openxmlformats.org/drawingml/2006/main">
            <a:pPr algn="l">
              <a:lnSpc>
                <a:spcPts val="10225"/>
              </a:lnSpc>
              <a:buNone/>
            </a:pPr>
            <a:r>
              <a:rPr sz="8519" b="1" spc="170">
                <a:solidFill>
                  <a:srgbClr val="FFFFFF"/>
                </a:solidFill>
                <a:latin typeface="Roboto Bold"/>
                <a:ea typeface="Roboto Bold"/>
                <a:cs typeface="Roboto Bold"/>
              </a:rPr>
              <a:t>Sequence</a:t>
            </a:r>
          </a:p>
          <a:p xmlns:a="http://schemas.openxmlformats.org/drawingml/2006/main">
            <a:pPr algn="l">
              <a:lnSpc>
                <a:spcPts val="10225"/>
              </a:lnSpc>
              <a:buNone/>
            </a:pPr>
            <a:r>
              <a:rPr sz="8519" b="1" spc="170">
                <a:solidFill>
                  <a:srgbClr val="FFFFFF"/>
                </a:solidFill>
                <a:latin typeface="Roboto Bold"/>
                <a:ea typeface="Roboto Bold"/>
                <a:cs typeface="Roboto Bold"/>
              </a:rPr>
              <a:t>Generation in</a:t>
            </a:r>
          </a:p>
          <a:p xmlns:a="http://schemas.openxmlformats.org/drawingml/2006/main">
            <a:pPr algn="l">
              <a:lnSpc>
                <a:spcPts val="10225"/>
              </a:lnSpc>
              <a:buNone/>
            </a:pPr>
            <a:r>
              <a:rPr sz="8519" b="1" spc="170">
                <a:solidFill>
                  <a:srgbClr val="FFFFFF"/>
                </a:solidFill>
                <a:latin typeface="Roboto Bold"/>
                <a:ea typeface="Roboto Bold"/>
                <a:cs typeface="Roboto Bold"/>
              </a:rPr>
              <a:t>VNMSim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B1DCBB94-634D-4818-BB02-9A1FA4DA2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6820" y="7316391"/>
            <a:ext cx="5795367" cy="9609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863"/>
              </a:lnSpc>
              <a:buNone/>
            </a:pPr>
            <a:r>
              <a:rPr sz="2759" b="1" spc="55">
                <a:solidFill>
                  <a:srgbClr val="37C2B9"/>
                </a:solidFill>
                <a:latin typeface="Roboto Bold"/>
                <a:ea typeface="Roboto Bold"/>
                <a:cs typeface="Roboto Bold"/>
              </a:rPr>
              <a:t>COMPUTER SYSTEM STRUCTURE</a:t>
            </a:r>
          </a:p>
          <a:p xmlns:a="http://schemas.openxmlformats.org/drawingml/2006/main">
            <a:pPr algn="l">
              <a:lnSpc>
                <a:spcPts val="3863"/>
              </a:lnSpc>
              <a:buNone/>
            </a:pPr>
            <a:r>
              <a:rPr sz="2759" b="1" spc="55">
                <a:solidFill>
                  <a:srgbClr val="37C2B9"/>
                </a:solidFill>
                <a:latin typeface="Roboto Bold"/>
                <a:ea typeface="Roboto Bold"/>
                <a:cs typeface="Roboto Bold"/>
              </a:rPr>
              <a:t>/ TASK 6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C42351C2-549F-458F-A942-BCC93792F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5141" y="8477893"/>
            <a:ext cx="8063508" cy="3487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86"/>
              </a:lnSpc>
              <a:buNone/>
            </a:pPr>
            <a:r>
              <a:rPr sz="2321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</a:rPr>
              <a:t>Team members:   Nikita   Kevin   Illia</a:t>
            </a:r>
          </a:p>
        </p:txBody>
      </p:sp>
    </p:spTree>
    <p:extLst>
      <p:ext uri="{BB962C8B-B14F-4D97-AF65-F5344CB8AC3E}">
        <p14:creationId xmlns:p14="http://schemas.microsoft.com/office/powerpoint/2010/main" val="29623184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2C2045BA-648F-405F-B9A5-5506E5BDB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04d245453994428"/>
            <a:stretch>
              <a:fillRect l="-1049" t="-1049" r="-1049" b="-1049"/>
            </a:stretch>
          </a:blipFill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FA4D9906-7E98-4575-B474-F44550AC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714375"/>
            <a:ext cx="160020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7289"/>
              </a:lnSpc>
              <a:buNone/>
            </a:pPr>
            <a:r>
              <a:rPr sz="6075" b="1">
                <a:solidFill>
                  <a:srgbClr val="FFFFFF"/>
                </a:solidFill>
                <a:latin typeface="Arial Bold"/>
                <a:ea typeface="Arial Bold"/>
                <a:cs typeface="Arial Bold"/>
              </a:rPr>
              <a:t>Project goal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808031CF-D87C-49B0-A27B-6515D2711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859250" y="9625012"/>
            <a:ext cx="571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60"/>
              </a:lnSpc>
              <a:buNone/>
            </a:pPr>
            <a:r>
              <a:rPr sz="1800">
                <a:solidFill>
                  <a:srgbClr val="53667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39C75DAA-9F78-4F28-9985-0F2C3F29F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5850" y="2952750"/>
            <a:ext cx="15430500" cy="11658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590"/>
              </a:lnSpc>
              <a:buNone/>
            </a:pPr>
            <a:r>
              <a:rPr sz="3825" b="1">
                <a:solidFill>
                  <a:srgbClr val="D7E2EA"/>
                </a:solidFill>
                <a:latin typeface="Arial Bold"/>
                <a:ea typeface="Arial Bold"/>
                <a:cs typeface="Arial Bold"/>
              </a:rPr>
              <a:t>We chose Fibonacci because each new term comes from one addition. It is a simple way to practise loops and register updates.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3E2C6E31-1BC6-4D39-A271-7C20A829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4425" y="5219700"/>
            <a:ext cx="4286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 b="1">
                <a:solidFill>
                  <a:srgbClr val="FFFFFF"/>
                </a:solidFill>
                <a:latin typeface="Arial Bold"/>
                <a:ea typeface="Arial Bold"/>
                <a:cs typeface="Arial Bold"/>
              </a:rPr>
              <a:t>Starting values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98D9825F-B5B5-415F-BBB7-C39D45FDC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4425" y="5824538"/>
            <a:ext cx="11430000" cy="904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130"/>
              </a:lnSpc>
              <a:buNone/>
            </a:pPr>
            <a:r>
              <a:rPr sz="4275" b="1">
                <a:solidFill>
                  <a:srgbClr val="D7E2EA"/>
                </a:solidFill>
                <a:latin typeface="Arial Bold"/>
                <a:ea typeface="Arial Bold"/>
                <a:cs typeface="Arial Bold"/>
              </a:rPr>
              <a:t>T1 = 0                         T2 = 1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11B2BB7F-B6B0-420F-A430-8652B4D3E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4425" y="7410450"/>
            <a:ext cx="1485900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644"/>
              </a:lnSpc>
              <a:buNone/>
            </a:pPr>
            <a:r>
              <a:rPr sz="3037">
                <a:solidFill>
                  <a:srgbClr val="FFFFFF"/>
                </a:solidFill>
                <a:latin typeface="Arial"/>
                <a:ea typeface="Arial"/>
                <a:cs typeface="Arial"/>
              </a:rPr>
              <a:t>Each pass adds the two stored terms, then updates the registers for the next pass.</a:t>
            </a:r>
          </a:p>
        </p:txBody>
      </p:sp>
    </p:spTree>
    <p:extLst>
      <p:ext uri="{BB962C8B-B14F-4D97-AF65-F5344CB8AC3E}">
        <p14:creationId xmlns:p14="http://schemas.microsoft.com/office/powerpoint/2010/main" val="48128984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C66BDAC5-F92D-4C03-A492-566E6C8E9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cb3b3a1ff88408c"/>
            <a:stretch>
              <a:fillRect l="-1049" t="-1049" r="-1049" b="-1049"/>
            </a:stretch>
          </a:blipFill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EAD9808E-1D8B-422A-A44F-8E46DCC44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714375"/>
            <a:ext cx="160020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7289"/>
              </a:lnSpc>
              <a:buNone/>
            </a:pPr>
            <a:r>
              <a:rPr sz="6075" b="1">
                <a:solidFill>
                  <a:srgbClr val="D7E2EA"/>
                </a:solidFill>
                <a:latin typeface="Arial Bold"/>
                <a:ea typeface="Arial Bold"/>
                <a:cs typeface="Arial Bold"/>
              </a:rPr>
              <a:t>The Fibonacci rule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3AB02ACA-9C24-4A3E-9525-35EE7F1BF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859250" y="9625012"/>
            <a:ext cx="571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60"/>
              </a:lnSpc>
              <a:buNone/>
            </a:pPr>
            <a:r>
              <a:rPr sz="1800">
                <a:solidFill>
                  <a:srgbClr val="53667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6E0C084E-9928-441B-A68F-A4378678C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1575" y="2619375"/>
            <a:ext cx="80010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130"/>
              </a:lnSpc>
              <a:buNone/>
            </a:pPr>
            <a:r>
              <a:rPr sz="4275" b="1">
                <a:solidFill>
                  <a:srgbClr val="FFFFFF"/>
                </a:solidFill>
                <a:latin typeface="Arial Bold"/>
                <a:ea typeface="Arial Bold"/>
                <a:cs typeface="Arial Bold"/>
              </a:rPr>
              <a:t>F0 = 0     F1 = 1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BFC0CA5F-AA1A-45AD-A066-B62570BF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1575" y="3571875"/>
            <a:ext cx="11430000" cy="1000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400"/>
              </a:lnSpc>
              <a:buNone/>
            </a:pPr>
            <a:r>
              <a:rPr sz="4500" b="1">
                <a:solidFill>
                  <a:srgbClr val="FFFFFF"/>
                </a:solidFill>
                <a:latin typeface="Arial Bold"/>
                <a:ea typeface="Arial Bold"/>
                <a:cs typeface="Arial Bold"/>
              </a:rPr>
              <a:t>Fn = F(n-1) + F(n-2)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AD8ECC8B-3530-4FBC-986C-36292F149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1575" y="5505450"/>
            <a:ext cx="3429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 b="1">
                <a:solidFill>
                  <a:srgbClr val="D7E2EA"/>
                </a:solidFill>
                <a:latin typeface="Arial Bold"/>
                <a:ea typeface="Arial Bold"/>
                <a:cs typeface="Arial Bold"/>
              </a:rPr>
              <a:t>First terms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C0FAC70C-EDDF-49FF-97CE-6D4CBC32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1575" y="6138862"/>
            <a:ext cx="15716250" cy="962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590"/>
              </a:lnSpc>
              <a:buNone/>
            </a:pPr>
            <a:r>
              <a:rPr sz="3825" b="1">
                <a:solidFill>
                  <a:srgbClr val="FFFFFF"/>
                </a:solidFill>
                <a:latin typeface="Arial Bold"/>
                <a:ea typeface="Arial Bold"/>
                <a:cs typeface="Arial Bold"/>
              </a:rPr>
              <a:t>0    1    1    2    3    5    8    13    21    34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E6B9A92B-4E07-43D6-AA9C-6B0CB1DD6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1575" y="7810500"/>
            <a:ext cx="15287625" cy="1019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375"/>
              </a:lnSpc>
              <a:buNone/>
            </a:pPr>
            <a:r>
              <a:rPr sz="2812">
                <a:solidFill>
                  <a:srgbClr val="D7E2EA"/>
                </a:solidFill>
                <a:latin typeface="Arial"/>
                <a:ea typeface="Arial"/>
                <a:cs typeface="Arial"/>
              </a:rPr>
              <a:t>T1 holds the previous term, T2 the current term, and T3 receives their sum.</a:t>
            </a:r>
          </a:p>
        </p:txBody>
      </p:sp>
    </p:spTree>
    <p:extLst>
      <p:ext uri="{BB962C8B-B14F-4D97-AF65-F5344CB8AC3E}">
        <p14:creationId xmlns:p14="http://schemas.microsoft.com/office/powerpoint/2010/main" val="204544381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0F2AEB4E-FBA0-4140-BB21-624EACBEE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f962fa33c1946d3"/>
            <a:stretch>
              <a:fillRect l="-1049" t="-1049" r="-1049" b="-1049"/>
            </a:stretch>
          </a:blipFill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13607FBB-B436-4E54-B331-9ED126F67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714375"/>
            <a:ext cx="160020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7289"/>
              </a:lnSpc>
              <a:buNone/>
            </a:pPr>
            <a:r>
              <a:rPr sz="6075" b="1">
                <a:solidFill>
                  <a:srgbClr val="FFFFFF"/>
                </a:solidFill>
                <a:latin typeface="Arial Bold"/>
                <a:ea typeface="Arial Bold"/>
                <a:cs typeface="Arial Bold"/>
              </a:rPr>
              <a:t>VNMSim components in the loop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C3F0E75B-E332-483B-822D-7941E6BC5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859250" y="9625012"/>
            <a:ext cx="571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60"/>
              </a:lnSpc>
              <a:buNone/>
            </a:pPr>
            <a:r>
              <a:rPr sz="1800">
                <a:solidFill>
                  <a:srgbClr val="53667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C80E35D5-FE8E-4A8F-808E-E13362A4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2338388"/>
            <a:ext cx="371475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644"/>
              </a:lnSpc>
              <a:buNone/>
            </a:pPr>
            <a:r>
              <a:rPr sz="3037" b="1">
                <a:solidFill>
                  <a:srgbClr val="D7E2EA"/>
                </a:solidFill>
                <a:latin typeface="Arial Bold"/>
                <a:ea typeface="Arial Bold"/>
                <a:cs typeface="Arial Bold"/>
              </a:rPr>
              <a:t>RAM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32AEDB48-5BE7-42DE-9965-D3BC95CD6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0" y="2338388"/>
            <a:ext cx="11858625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510"/>
              </a:lnSpc>
              <a:buNone/>
            </a:pPr>
            <a:r>
              <a:rPr sz="2925">
                <a:solidFill>
                  <a:srgbClr val="FFFFFF"/>
                </a:solidFill>
                <a:latin typeface="Arial"/>
                <a:ea typeface="Arial"/>
                <a:cs typeface="Arial"/>
              </a:rPr>
              <a:t>Holds the program instructions and data values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1269FE8E-2005-4E2E-A0F8-1DA47DA70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3695700"/>
            <a:ext cx="371475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644"/>
              </a:lnSpc>
              <a:buNone/>
            </a:pPr>
            <a:r>
              <a:rPr sz="3037" b="1">
                <a:solidFill>
                  <a:srgbClr val="D7E2EA"/>
                </a:solidFill>
                <a:latin typeface="Arial Bold"/>
                <a:ea typeface="Arial Bold"/>
                <a:cs typeface="Arial Bold"/>
              </a:rPr>
              <a:t>PC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4CCD148A-0192-4135-B7A1-E6236B708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0" y="3695700"/>
            <a:ext cx="11858625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510"/>
              </a:lnSpc>
              <a:buNone/>
            </a:pPr>
            <a:r>
              <a:rPr sz="2925">
                <a:solidFill>
                  <a:srgbClr val="FFFFFF"/>
                </a:solidFill>
                <a:latin typeface="Arial"/>
                <a:ea typeface="Arial"/>
                <a:cs typeface="Arial"/>
              </a:rPr>
              <a:t>Selects the next instruction to execute.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532F7482-C74F-480A-AD4B-9D2C45421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5053012"/>
            <a:ext cx="371475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644"/>
              </a:lnSpc>
              <a:buNone/>
            </a:pPr>
            <a:r>
              <a:rPr sz="3037" b="1">
                <a:solidFill>
                  <a:srgbClr val="D7E2EA"/>
                </a:solidFill>
                <a:latin typeface="Arial Bold"/>
                <a:ea typeface="Arial Bold"/>
                <a:cs typeface="Arial Bold"/>
              </a:rPr>
              <a:t>IR and decoder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2792131F-FAF0-4698-9C68-84DEE982A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0" y="5053012"/>
            <a:ext cx="11858625" cy="4457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510"/>
              </a:lnSpc>
              <a:buNone/>
            </a:pPr>
            <a:r>
              <a:rPr sz="2925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IR holds the current instruction. The decoder interprets it.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8B4748E9-0D6B-4F67-9F2E-09353EBB3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6410325"/>
            <a:ext cx="371475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644"/>
              </a:lnSpc>
              <a:buNone/>
            </a:pPr>
            <a:r>
              <a:rPr sz="3037" b="1">
                <a:solidFill>
                  <a:srgbClr val="D7E2EA"/>
                </a:solidFill>
                <a:latin typeface="Arial Bold"/>
                <a:ea typeface="Arial Bold"/>
                <a:cs typeface="Arial Bold"/>
              </a:rPr>
              <a:t>ALU and ACC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320F90DD-C17A-4911-ABC6-F91DB69F1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0" y="6410325"/>
            <a:ext cx="11858625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510"/>
              </a:lnSpc>
              <a:buNone/>
            </a:pPr>
            <a:r>
              <a:rPr sz="2925">
                <a:solidFill>
                  <a:srgbClr val="FFFFFF"/>
                </a:solidFill>
                <a:latin typeface="Arial"/>
                <a:ea typeface="Arial"/>
                <a:cs typeface="Arial"/>
              </a:rPr>
              <a:t>Perform addition and hold the current calculation result.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4FCC594C-563C-4927-8D60-5A49B3AC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8267700"/>
            <a:ext cx="151447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375"/>
              </a:lnSpc>
              <a:buNone/>
            </a:pPr>
            <a:r>
              <a:rPr sz="2812" b="1">
                <a:solidFill>
                  <a:srgbClr val="FFFFFF"/>
                </a:solidFill>
                <a:latin typeface="Arial Bold"/>
                <a:ea typeface="Arial Bold"/>
                <a:cs typeface="Arial Bold"/>
              </a:rPr>
              <a:t>JMP 5 sends the PC back to the first instruction of the loop.</a:t>
            </a:r>
          </a:p>
        </p:txBody>
      </p:sp>
    </p:spTree>
    <p:extLst>
      <p:ext uri="{BB962C8B-B14F-4D97-AF65-F5344CB8AC3E}">
        <p14:creationId xmlns:p14="http://schemas.microsoft.com/office/powerpoint/2010/main" val="85769412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CD97A04B-BE03-48A1-A5C3-43531172B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1551e8c9a0245d2"/>
            <a:stretch>
              <a:fillRect l="-1049" t="-1049" r="-1049" b="-1049"/>
            </a:stretch>
          </a:blipFill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B4348274-517E-4BBE-B052-5E62DEED7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714375"/>
            <a:ext cx="160020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7289"/>
              </a:lnSpc>
              <a:buNone/>
            </a:pPr>
            <a:r>
              <a:rPr sz="6075" b="1">
                <a:solidFill>
                  <a:srgbClr val="FFFFFF"/>
                </a:solidFill>
                <a:latin typeface="Arial Bold"/>
                <a:ea typeface="Arial Bold"/>
                <a:cs typeface="Arial Bold"/>
              </a:rPr>
              <a:t>The loop and JMP 5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0005F586-3B8B-4B32-A91C-7F364581D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859250" y="9625012"/>
            <a:ext cx="571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60"/>
              </a:lnSpc>
              <a:buNone/>
            </a:pPr>
            <a:r>
              <a:rPr sz="1800">
                <a:solidFill>
                  <a:srgbClr val="53667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853E7477-329C-4320-981D-ACB645082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1556" y="2193131"/>
            <a:ext cx="10587038" cy="6586538"/>
          </a:xfrm>
          <a:custGeom xmlns:a="http://schemas.openxmlformats.org/drawingml/2006/main">
            <a:rect l="l" t="t" r="r" b="b"/>
            <a:pathLst>
              <a:path w="14116050" h="8782050">
                <a:moveTo>
                  <a:pt x="0" y="0"/>
                </a:moveTo>
                <a:lnTo>
                  <a:pt x="14116050" y="0"/>
                </a:lnTo>
                <a:lnTo>
                  <a:pt x="14116050" y="8782050"/>
                </a:lnTo>
                <a:lnTo>
                  <a:pt x="0" y="8782050"/>
                </a:lnTo>
                <a:close/>
              </a:path>
            </a:pathLst>
          </a:custGeom>
          <a:solidFill xmlns:a="http://schemas.openxmlformats.org/drawingml/2006/main">
            <a:srgbClr val="E9EEF1"/>
          </a:solidFill>
          <a:ln xmlns:a="http://schemas.openxmlformats.org/drawingml/2006/main" w="14288" cap="sq">
            <a:solidFill>
              <a:srgbClr val="CBD5DA"/>
            </a:solidFill>
            <a:prstDash val="solid"/>
            <a:miter/>
          </a:ln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F9ECB616-F146-4F0C-B15B-CFC79A0C0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3025" y="2428875"/>
            <a:ext cx="9944100" cy="6029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375"/>
              </a:lnSpc>
              <a:buNone/>
            </a:pPr>
            <a:r>
              <a:rPr sz="2812">
                <a:solidFill>
                  <a:srgbClr val="172B3A"/>
                </a:solidFill>
                <a:latin typeface="Consolas"/>
                <a:ea typeface="Consolas"/>
                <a:cs typeface="Consolas"/>
              </a:rPr>
              <a:t>0  // Fibonacci loop</a:t>
            </a:r>
          </a:p>
          <a:p xmlns:a="http://schemas.openxmlformats.org/drawingml/2006/main">
            <a:pPr algn="l">
              <a:lnSpc>
                <a:spcPts val="3375"/>
              </a:lnSpc>
              <a:buNone/>
            </a:pPr>
            <a:r>
              <a:rPr sz="2812">
                <a:solidFill>
                  <a:srgbClr val="172B3A"/>
                </a:solidFill>
                <a:latin typeface="Consolas"/>
                <a:ea typeface="Consolas"/>
                <a:cs typeface="Consolas"/>
              </a:rPr>
              <a:t>1  LOD #0</a:t>
            </a:r>
          </a:p>
          <a:p xmlns:a="http://schemas.openxmlformats.org/drawingml/2006/main">
            <a:pPr algn="l">
              <a:lnSpc>
                <a:spcPts val="3375"/>
              </a:lnSpc>
              <a:buNone/>
            </a:pPr>
            <a:r>
              <a:rPr sz="2812">
                <a:solidFill>
                  <a:srgbClr val="172B3A"/>
                </a:solidFill>
                <a:latin typeface="Consolas"/>
                <a:ea typeface="Consolas"/>
                <a:cs typeface="Consolas"/>
              </a:rPr>
              <a:t>2  STO T1</a:t>
            </a:r>
          </a:p>
          <a:p xmlns:a="http://schemas.openxmlformats.org/drawingml/2006/main">
            <a:pPr algn="l">
              <a:lnSpc>
                <a:spcPts val="3375"/>
              </a:lnSpc>
              <a:buNone/>
            </a:pPr>
            <a:r>
              <a:rPr sz="2812">
                <a:solidFill>
                  <a:srgbClr val="172B3A"/>
                </a:solidFill>
                <a:latin typeface="Consolas"/>
                <a:ea typeface="Consolas"/>
                <a:cs typeface="Consolas"/>
              </a:rPr>
              <a:t>3  LOD #1</a:t>
            </a:r>
          </a:p>
          <a:p xmlns:a="http://schemas.openxmlformats.org/drawingml/2006/main">
            <a:pPr algn="l">
              <a:lnSpc>
                <a:spcPts val="3375"/>
              </a:lnSpc>
              <a:buNone/>
            </a:pPr>
            <a:r>
              <a:rPr sz="2812">
                <a:solidFill>
                  <a:srgbClr val="172B3A"/>
                </a:solidFill>
                <a:latin typeface="Consolas"/>
                <a:ea typeface="Consolas"/>
                <a:cs typeface="Consolas"/>
              </a:rPr>
              <a:t>4  STO T2</a:t>
            </a:r>
          </a:p>
          <a:p xmlns:a="http://schemas.openxmlformats.org/drawingml/2006/main">
            <a:pPr algn="l">
              <a:lnSpc>
                <a:spcPts val="3375"/>
              </a:lnSpc>
              <a:buNone/>
            </a:pPr>
            <a:r>
              <a:rPr sz="2812">
                <a:solidFill>
                  <a:srgbClr val="172B3A"/>
                </a:solidFill>
                <a:latin typeface="Consolas"/>
                <a:ea typeface="Consolas"/>
                <a:cs typeface="Consolas"/>
              </a:rPr>
              <a:t>5  LOD T1</a:t>
            </a:r>
          </a:p>
          <a:p xmlns:a="http://schemas.openxmlformats.org/drawingml/2006/main">
            <a:pPr algn="l">
              <a:lnSpc>
                <a:spcPts val="3375"/>
              </a:lnSpc>
              <a:buNone/>
            </a:pPr>
            <a:r>
              <a:rPr sz="2812">
                <a:solidFill>
                  <a:srgbClr val="172B3A"/>
                </a:solidFill>
                <a:latin typeface="Consolas"/>
                <a:ea typeface="Consolas"/>
                <a:cs typeface="Consolas"/>
              </a:rPr>
              <a:t>6  ADD T2</a:t>
            </a:r>
          </a:p>
          <a:p xmlns:a="http://schemas.openxmlformats.org/drawingml/2006/main">
            <a:pPr algn="l">
              <a:lnSpc>
                <a:spcPts val="3375"/>
              </a:lnSpc>
              <a:buNone/>
            </a:pPr>
            <a:r>
              <a:rPr sz="2812">
                <a:solidFill>
                  <a:srgbClr val="172B3A"/>
                </a:solidFill>
                <a:latin typeface="Consolas"/>
                <a:ea typeface="Consolas"/>
                <a:cs typeface="Consolas"/>
              </a:rPr>
              <a:t>7  STO T3</a:t>
            </a:r>
          </a:p>
          <a:p xmlns:a="http://schemas.openxmlformats.org/drawingml/2006/main">
            <a:pPr algn="l">
              <a:lnSpc>
                <a:spcPts val="3375"/>
              </a:lnSpc>
              <a:buNone/>
            </a:pPr>
            <a:r>
              <a:rPr sz="2812">
                <a:solidFill>
                  <a:srgbClr val="172B3A"/>
                </a:solidFill>
                <a:latin typeface="Consolas"/>
                <a:ea typeface="Consolas"/>
                <a:cs typeface="Consolas"/>
              </a:rPr>
              <a:t>8  LOD T2</a:t>
            </a:r>
          </a:p>
          <a:p xmlns:a="http://schemas.openxmlformats.org/drawingml/2006/main">
            <a:pPr algn="l">
              <a:lnSpc>
                <a:spcPts val="3375"/>
              </a:lnSpc>
              <a:buNone/>
            </a:pPr>
            <a:r>
              <a:rPr sz="2812">
                <a:solidFill>
                  <a:srgbClr val="172B3A"/>
                </a:solidFill>
                <a:latin typeface="Consolas"/>
                <a:ea typeface="Consolas"/>
                <a:cs typeface="Consolas"/>
              </a:rPr>
              <a:t>9  STO T1</a:t>
            </a:r>
          </a:p>
          <a:p xmlns:a="http://schemas.openxmlformats.org/drawingml/2006/main">
            <a:pPr algn="l">
              <a:lnSpc>
                <a:spcPts val="3375"/>
              </a:lnSpc>
              <a:buNone/>
            </a:pPr>
            <a:r>
              <a:rPr sz="2812">
                <a:solidFill>
                  <a:srgbClr val="172B3A"/>
                </a:solidFill>
                <a:latin typeface="Consolas"/>
                <a:ea typeface="Consolas"/>
                <a:cs typeface="Consolas"/>
              </a:rPr>
              <a:t>10 LOD T3</a:t>
            </a:r>
          </a:p>
          <a:p xmlns:a="http://schemas.openxmlformats.org/drawingml/2006/main">
            <a:pPr algn="l">
              <a:lnSpc>
                <a:spcPts val="3375"/>
              </a:lnSpc>
              <a:buNone/>
            </a:pPr>
            <a:r>
              <a:rPr sz="2812">
                <a:solidFill>
                  <a:srgbClr val="172B3A"/>
                </a:solidFill>
                <a:latin typeface="Consolas"/>
                <a:ea typeface="Consolas"/>
                <a:cs typeface="Consolas"/>
              </a:rPr>
              <a:t>11 STO T2</a:t>
            </a:r>
          </a:p>
          <a:p xmlns:a="http://schemas.openxmlformats.org/drawingml/2006/main">
            <a:pPr algn="l">
              <a:lnSpc>
                <a:spcPts val="3375"/>
              </a:lnSpc>
              <a:buNone/>
            </a:pPr>
            <a:r>
              <a:rPr sz="2812">
                <a:solidFill>
                  <a:srgbClr val="172B3A"/>
                </a:solidFill>
                <a:latin typeface="Consolas"/>
                <a:ea typeface="Consolas"/>
                <a:cs typeface="Consolas"/>
              </a:rPr>
              <a:t>12 JMP 5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2E15D382-D7C2-4464-9760-F2E567551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44375" y="2524125"/>
            <a:ext cx="4857750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375"/>
              </a:lnSpc>
              <a:buNone/>
            </a:pPr>
            <a:r>
              <a:rPr sz="2812" b="1">
                <a:solidFill>
                  <a:srgbClr val="FFFFFF"/>
                </a:solidFill>
                <a:latin typeface="Arial Bold"/>
                <a:ea typeface="Arial Bold"/>
                <a:cs typeface="Arial Bold"/>
              </a:rPr>
              <a:t>Register roles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4B9B4A01-D268-4E5E-9F64-0BADDA83A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44375" y="3267075"/>
            <a:ext cx="4857750" cy="2162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375"/>
              </a:lnSpc>
              <a:buNone/>
            </a:pPr>
            <a:r>
              <a:rPr sz="2812">
                <a:solidFill>
                  <a:srgbClr val="FFFFFF"/>
                </a:solidFill>
                <a:latin typeface="Arial"/>
                <a:ea typeface="Arial"/>
                <a:cs typeface="Arial"/>
              </a:rPr>
              <a:t>T1  previous term</a:t>
            </a:r>
          </a:p>
          <a:p xmlns:a="http://schemas.openxmlformats.org/drawingml/2006/main">
            <a:pPr algn="l">
              <a:lnSpc>
                <a:spcPts val="3375"/>
              </a:lnSpc>
              <a:buNone/>
            </a:pPr>
            <a:r>
              <a:rPr sz="2812">
                <a:solidFill>
                  <a:srgbClr val="FFFFFF"/>
                </a:solidFill>
                <a:latin typeface="Arial"/>
                <a:ea typeface="Arial"/>
                <a:cs typeface="Arial"/>
              </a:rPr>
              <a:t>T2  current term</a:t>
            </a:r>
          </a:p>
          <a:p xmlns:a="http://schemas.openxmlformats.org/drawingml/2006/main">
            <a:pPr algn="l">
              <a:lnSpc>
                <a:spcPts val="3375"/>
              </a:lnSpc>
              <a:buNone/>
            </a:pPr>
            <a:r>
              <a:rPr sz="2812">
                <a:solidFill>
                  <a:srgbClr val="FFFFFF"/>
                </a:solidFill>
                <a:latin typeface="Arial"/>
                <a:ea typeface="Arial"/>
                <a:cs typeface="Arial"/>
              </a:rPr>
              <a:t>T3  new sum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24D089F9-E550-4E14-B5EE-BEAFA646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44375" y="6024562"/>
            <a:ext cx="4857750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375"/>
              </a:lnSpc>
              <a:buNone/>
            </a:pPr>
            <a:r>
              <a:rPr sz="2812" b="1">
                <a:solidFill>
                  <a:srgbClr val="FFFFFF"/>
                </a:solidFill>
                <a:latin typeface="Arial Bold"/>
                <a:ea typeface="Arial Bold"/>
                <a:cs typeface="Arial Bold"/>
              </a:rPr>
              <a:t>Jump target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574AE183-9B33-432C-856B-7DB444DBE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44375" y="6753225"/>
            <a:ext cx="4857750" cy="1190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ts val="3104"/>
              </a:lnSpc>
              <a:spcBef>
                <a:spcPct val="0"/>
              </a:spcBef>
              <a:buNone/>
            </a:pPr>
            <a:r>
              <a:rPr sz="2587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JMP 5 returns to line 5, LOD T1. The first line is</a:t>
            </a:r>
            <a:r>
              <a:rPr sz="2587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 numbered 0 in this listing.</a:t>
            </a:r>
          </a:p>
        </p:txBody>
      </p:sp>
    </p:spTree>
    <p:extLst>
      <p:ext uri="{BB962C8B-B14F-4D97-AF65-F5344CB8AC3E}">
        <p14:creationId xmlns:p14="http://schemas.microsoft.com/office/powerpoint/2010/main" val="155051908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EE629353-F96D-4173-B651-876590007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bde8f3ab5e647ca"/>
            <a:stretch>
              <a:fillRect l="-1049" t="-1049" r="-1049" b="-1049"/>
            </a:stretch>
          </a:blipFill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AA5671BE-7FE4-4A67-B7B5-FBE3DFD3B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714375"/>
            <a:ext cx="160020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7289"/>
              </a:lnSpc>
              <a:buNone/>
            </a:pPr>
            <a:r>
              <a:rPr sz="6075" b="1">
                <a:solidFill>
                  <a:srgbClr val="FFFFFF"/>
                </a:solidFill>
                <a:latin typeface="Arial Bold"/>
                <a:ea typeface="Arial Bold"/>
                <a:cs typeface="Arial Bold"/>
              </a:rPr>
              <a:t>Testing the register trace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20A26B4A-CA7D-470A-85EC-A477E0EA7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859250" y="9625012"/>
            <a:ext cx="571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60"/>
              </a:lnSpc>
              <a:buNone/>
            </a:pPr>
            <a:r>
              <a:rPr sz="1800">
                <a:solidFill>
                  <a:srgbClr val="53667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0F2CDB93-AA9C-484F-8A5D-E62597DE9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4425" y="1981200"/>
            <a:ext cx="15716250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buNone/>
            </a:pPr>
            <a:r>
              <a:rPr sz="2700">
                <a:solidFill>
                  <a:srgbClr val="FFFFFF"/>
                </a:solidFill>
                <a:latin typeface="Arial"/>
                <a:ea typeface="Arial"/>
                <a:cs typeface="Arial"/>
              </a:rPr>
              <a:t>Values after passes 1–4 match our screenshots; pass 5 is a prediction.</a:t>
            </a:r>
          </a:p>
        </p:txBody>
      </p:sp>
      <p:graphicFrame>
        <p:nvGraphicFramePr>
          <p:cNvPr id="6" name="Table 6">
            <a:extLst xmlns:a="http://schemas.openxmlformats.org/drawingml/2006/main">
              <a:ext uri="{FF2B5EF4-FFF2-40B4-BE49-F238E27FC236}">
                <a16:creationId xmlns:a16="http://schemas.microsoft.com/office/drawing/2014/main" id="{797E0B54-5153-4357-BB55-F8FA7BE49BE8}"/>
              </a:ext>
            </a:extLst>
          </p:cNvPr>
          <p:cNvGraphicFramePr/>
          <p:nvPr/>
        </p:nvGraphicFramePr>
        <p:xfrm>
          <a:off xmlns:a="http://schemas.openxmlformats.org/drawingml/2006/main" x="1114425" y="2900362"/>
          <a:ext xmlns:a="http://schemas.openxmlformats.org/drawingml/2006/main" cx="15849600" cy="5067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73061"/>
                <a:gridCol w="3958846"/>
                <a:gridCol w="3958846"/>
                <a:gridCol w="3958846"/>
              </a:tblGrid>
              <a:tr h="735703">
                <a:tc>
                  <a:txBody>
                    <a:bodyPr anchor="t"/>
                    <a:lstStyle/>
                    <a:p>
                      <a:pPr algn="l">
                        <a:lnSpc>
                          <a:spcPts val="2970"/>
                        </a:lnSpc>
                        <a:buNone/>
                      </a:pPr>
                      <a:r>
                        <a:rPr sz="2475" b="1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</a:rPr>
                        <a:t>Checkpoint</a:t>
                      </a:r>
                      <a:endParaRPr sz="1100"/>
                    </a:p>
                  </a:txBody>
                  <a:tcPr marL="91440" marR="91440" marT="91440" marB="91440" anchor="ctr">
                    <a:lnL w="9525" cmpd="sng">
                      <a:solidFill>
                        <a:srgbClr val="CBD5DA"/>
                      </a:solidFill>
                      <a:prstDash val="solid"/>
                    </a:lnL>
                    <a:lnR w="9525" cmpd="sng">
                      <a:solidFill>
                        <a:srgbClr val="CBD5DA"/>
                      </a:solidFill>
                      <a:prstDash val="solid"/>
                    </a:lnR>
                    <a:lnT w="9525" cmpd="sng">
                      <a:solidFill>
                        <a:srgbClr val="CBD5DA"/>
                      </a:solidFill>
                      <a:prstDash val="solid"/>
                    </a:lnT>
                    <a:lnB w="9525" cmpd="sng">
                      <a:solidFill>
                        <a:srgbClr val="CBD5DA"/>
                      </a:solidFill>
                      <a:prstDash val="solid"/>
                    </a:lnB>
                    <a:solidFill>
                      <a:srgbClr val="102238"/>
                    </a:solidFill>
                  </a:tcPr>
                </a:tc>
                <a:tc>
                  <a:txBody>
                    <a:bodyPr anchor="t"/>
                    <a:lstStyle/>
                    <a:p>
                      <a:pPr algn="ctr">
                        <a:lnSpc>
                          <a:spcPts val="2970"/>
                        </a:lnSpc>
                        <a:buNone/>
                      </a:pPr>
                      <a:r>
                        <a:rPr sz="2475" b="1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</a:rPr>
                        <a:t>T1</a:t>
                      </a:r>
                      <a:endParaRPr sz="1100"/>
                    </a:p>
                  </a:txBody>
                  <a:tcPr marL="91440" marR="91440" marT="91440" marB="91440" anchor="ctr">
                    <a:lnL w="4762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CBD5DA"/>
                      </a:solidFill>
                      <a:prstDash val="solid"/>
                    </a:lnR>
                    <a:lnT w="9525" cmpd="sng">
                      <a:solidFill>
                        <a:srgbClr val="CBD5DA"/>
                      </a:solidFill>
                      <a:prstDash val="solid"/>
                    </a:lnT>
                    <a:lnB w="9525" cmpd="sng">
                      <a:solidFill>
                        <a:srgbClr val="CBD5DA"/>
                      </a:solidFill>
                      <a:prstDash val="solid"/>
                    </a:lnB>
                    <a:solidFill>
                      <a:srgbClr val="102238"/>
                    </a:solidFill>
                  </a:tcPr>
                </a:tc>
                <a:tc>
                  <a:txBody>
                    <a:bodyPr anchor="t"/>
                    <a:lstStyle/>
                    <a:p>
                      <a:pPr algn="ctr">
                        <a:lnSpc>
                          <a:spcPts val="2970"/>
                        </a:lnSpc>
                        <a:buNone/>
                      </a:pPr>
                      <a:r>
                        <a:rPr sz="2475" b="1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</a:rPr>
                        <a:t>T2</a:t>
                      </a:r>
                      <a:endParaRPr sz="1100"/>
                    </a:p>
                  </a:txBody>
                  <a:tcPr marL="91440" marR="91440" marT="91440" marB="91440" anchor="ctr">
                    <a:lnL w="4762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CBD5DA"/>
                      </a:solidFill>
                      <a:prstDash val="solid"/>
                    </a:lnR>
                    <a:lnT w="9525" cmpd="sng">
                      <a:solidFill>
                        <a:srgbClr val="CBD5DA"/>
                      </a:solidFill>
                      <a:prstDash val="solid"/>
                    </a:lnT>
                    <a:lnB w="9525" cmpd="sng">
                      <a:solidFill>
                        <a:srgbClr val="CBD5DA"/>
                      </a:solidFill>
                      <a:prstDash val="solid"/>
                    </a:lnB>
                    <a:solidFill>
                      <a:srgbClr val="102238"/>
                    </a:solidFill>
                  </a:tcPr>
                </a:tc>
                <a:tc>
                  <a:txBody>
                    <a:bodyPr anchor="t"/>
                    <a:lstStyle/>
                    <a:p>
                      <a:pPr algn="ctr">
                        <a:lnSpc>
                          <a:spcPts val="2970"/>
                        </a:lnSpc>
                        <a:buNone/>
                      </a:pPr>
                      <a:r>
                        <a:rPr sz="2475" b="1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</a:rPr>
                        <a:t>T3 / new term</a:t>
                      </a:r>
                      <a:endParaRPr sz="1100"/>
                    </a:p>
                  </a:txBody>
                  <a:tcPr marL="91440" marR="91440" marT="91440" marB="91440" anchor="ctr">
                    <a:lnL w="4762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CBD5DA"/>
                      </a:solidFill>
                      <a:prstDash val="solid"/>
                    </a:lnR>
                    <a:lnT w="9525" cmpd="sng">
                      <a:solidFill>
                        <a:srgbClr val="CBD5DA"/>
                      </a:solidFill>
                      <a:prstDash val="solid"/>
                    </a:lnT>
                    <a:lnB w="9525" cmpd="sng">
                      <a:solidFill>
                        <a:srgbClr val="CBD5DA"/>
                      </a:solidFill>
                      <a:prstDash val="solid"/>
                    </a:lnB>
                    <a:solidFill>
                      <a:srgbClr val="102238"/>
                    </a:solidFill>
                  </a:tcPr>
                </a:tc>
              </a:tr>
              <a:tr h="721933">
                <a:tc>
                  <a:txBody>
                    <a:bodyPr anchor="t"/>
                    <a:lstStyle/>
                    <a:p>
                      <a:pPr algn="l">
                        <a:lnSpc>
                          <a:spcPts val="3104"/>
                        </a:lnSpc>
                        <a:buNone/>
                      </a:pPr>
                      <a:r>
                        <a:rPr sz="2587" b="1">
                          <a:solidFill>
                            <a:srgbClr val="172B3A"/>
                          </a:solidFill>
                          <a:latin typeface="Arial Bold"/>
                          <a:ea typeface="Arial Bold"/>
                          <a:cs typeface="Arial Bold"/>
                        </a:rPr>
                        <a:t>Before loop</a:t>
                      </a:r>
                      <a:endParaRPr sz="1100"/>
                    </a:p>
                  </a:txBody>
                  <a:tcPr marL="91440" marR="91440" marT="91440" marB="91440" anchor="ctr">
                    <a:lnL w="9525" cmpd="sng">
                      <a:solidFill>
                        <a:srgbClr val="CBD5DA"/>
                      </a:solidFill>
                      <a:prstDash val="solid"/>
                    </a:lnL>
                    <a:lnR w="9525" cmpd="sng">
                      <a:solidFill>
                        <a:srgbClr val="CBD5DA"/>
                      </a:solidFill>
                      <a:prstDash val="solid"/>
                    </a:lnR>
                    <a:lnT w="4762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CB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/>
                    <a:lstStyle/>
                    <a:p>
                      <a:pPr algn="ctr">
                        <a:lnSpc>
                          <a:spcPts val="3104"/>
                        </a:lnSpc>
                        <a:buNone/>
                      </a:pPr>
                      <a:r>
                        <a:rPr sz="2587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  <a:endParaRPr sz="1100"/>
                    </a:p>
                  </a:txBody>
                  <a:tcPr marL="91440" marR="91440" marT="91440" marB="91440" anchor="ctr">
                    <a:lnL w="4762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CBD5DA"/>
                      </a:solidFill>
                      <a:prstDash val="solid"/>
                    </a:lnR>
                    <a:lnT w="4762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CB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/>
                    <a:lstStyle/>
                    <a:p>
                      <a:pPr algn="ctr">
                        <a:lnSpc>
                          <a:spcPts val="3104"/>
                        </a:lnSpc>
                        <a:buNone/>
                      </a:pPr>
                      <a:r>
                        <a:rPr sz="2587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  <a:endParaRPr sz="1100"/>
                    </a:p>
                  </a:txBody>
                  <a:tcPr marL="91440" marR="91440" marT="91440" marB="91440" anchor="ctr">
                    <a:lnL w="4762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CBD5DA"/>
                      </a:solidFill>
                      <a:prstDash val="solid"/>
                    </a:lnR>
                    <a:lnT w="4762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CB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/>
                    <a:lstStyle/>
                    <a:p>
                      <a:pPr algn="ctr">
                        <a:lnSpc>
                          <a:spcPts val="3104"/>
                        </a:lnSpc>
                        <a:buNone/>
                      </a:pPr>
                      <a:r>
                        <a:rPr sz="2587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n/a</a:t>
                      </a:r>
                      <a:endParaRPr sz="1100"/>
                    </a:p>
                  </a:txBody>
                  <a:tcPr marL="91440" marR="91440" marT="91440" marB="91440" anchor="ctr">
                    <a:lnL w="4762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CBD5DA"/>
                      </a:solidFill>
                      <a:prstDash val="solid"/>
                    </a:lnR>
                    <a:lnT w="4762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CB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1933">
                <a:tc>
                  <a:txBody>
                    <a:bodyPr anchor="t"/>
                    <a:lstStyle/>
                    <a:p>
                      <a:pPr algn="l">
                        <a:lnSpc>
                          <a:spcPts val="3104"/>
                        </a:lnSpc>
                        <a:buNone/>
                      </a:pPr>
                      <a:r>
                        <a:rPr sz="2587" b="1">
                          <a:solidFill>
                            <a:srgbClr val="172B3A"/>
                          </a:solidFill>
                          <a:latin typeface="Arial Bold"/>
                          <a:ea typeface="Arial Bold"/>
                          <a:cs typeface="Arial Bold"/>
                        </a:rPr>
                        <a:t>After pass 1</a:t>
                      </a:r>
                      <a:endParaRPr sz="1100"/>
                    </a:p>
                  </a:txBody>
                  <a:tcPr marL="91440" marR="91440" marT="91440" marB="91440" anchor="ctr">
                    <a:lnL w="9525" cmpd="sng">
                      <a:solidFill>
                        <a:srgbClr val="CBD5DA"/>
                      </a:solidFill>
                      <a:prstDash val="solid"/>
                    </a:lnL>
                    <a:lnR w="9525" cmpd="sng">
                      <a:solidFill>
                        <a:srgbClr val="CBD5DA"/>
                      </a:solidFill>
                      <a:prstDash val="solid"/>
                    </a:lnR>
                    <a:lnT w="4762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CBD5DA"/>
                      </a:solidFill>
                      <a:prstDash val="solid"/>
                    </a:lnB>
                    <a:solidFill>
                      <a:srgbClr val="EEF3F3"/>
                    </a:solidFill>
                  </a:tcPr>
                </a:tc>
                <a:tc>
                  <a:txBody>
                    <a:bodyPr anchor="t"/>
                    <a:lstStyle/>
                    <a:p>
                      <a:pPr algn="ctr">
                        <a:lnSpc>
                          <a:spcPts val="3104"/>
                        </a:lnSpc>
                        <a:buNone/>
                      </a:pPr>
                      <a:r>
                        <a:rPr sz="2587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  <a:endParaRPr sz="1100"/>
                    </a:p>
                  </a:txBody>
                  <a:tcPr marL="91440" marR="91440" marT="91440" marB="91440" anchor="ctr">
                    <a:lnL w="4762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CBD5DA"/>
                      </a:solidFill>
                      <a:prstDash val="solid"/>
                    </a:lnR>
                    <a:lnT w="4762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CBD5DA"/>
                      </a:solidFill>
                      <a:prstDash val="solid"/>
                    </a:lnB>
                    <a:solidFill>
                      <a:srgbClr val="EEF3F3"/>
                    </a:solidFill>
                  </a:tcPr>
                </a:tc>
                <a:tc>
                  <a:txBody>
                    <a:bodyPr anchor="t"/>
                    <a:lstStyle/>
                    <a:p>
                      <a:pPr algn="ctr">
                        <a:lnSpc>
                          <a:spcPts val="3104"/>
                        </a:lnSpc>
                        <a:buNone/>
                      </a:pPr>
                      <a:r>
                        <a:rPr sz="2587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  <a:endParaRPr sz="1100"/>
                    </a:p>
                  </a:txBody>
                  <a:tcPr marL="91440" marR="91440" marT="91440" marB="91440" anchor="ctr">
                    <a:lnL w="4762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CBD5DA"/>
                      </a:solidFill>
                      <a:prstDash val="solid"/>
                    </a:lnR>
                    <a:lnT w="4762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CBD5DA"/>
                      </a:solidFill>
                      <a:prstDash val="solid"/>
                    </a:lnB>
                    <a:solidFill>
                      <a:srgbClr val="EEF3F3"/>
                    </a:solidFill>
                  </a:tcPr>
                </a:tc>
                <a:tc>
                  <a:txBody>
                    <a:bodyPr anchor="t"/>
                    <a:lstStyle/>
                    <a:p>
                      <a:pPr algn="ctr">
                        <a:lnSpc>
                          <a:spcPts val="3104"/>
                        </a:lnSpc>
                        <a:buNone/>
                      </a:pPr>
                      <a:r>
                        <a:rPr sz="2587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  <a:endParaRPr sz="1100"/>
                    </a:p>
                  </a:txBody>
                  <a:tcPr marL="91440" marR="91440" marT="91440" marB="91440" anchor="ctr">
                    <a:lnL w="4762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CBD5DA"/>
                      </a:solidFill>
                      <a:prstDash val="solid"/>
                    </a:lnR>
                    <a:lnT w="4762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CBD5DA"/>
                      </a:solidFill>
                      <a:prstDash val="solid"/>
                    </a:lnB>
                    <a:solidFill>
                      <a:srgbClr val="EEF3F3"/>
                    </a:solidFill>
                  </a:tcPr>
                </a:tc>
              </a:tr>
              <a:tr h="721933">
                <a:tc>
                  <a:txBody>
                    <a:bodyPr anchor="t"/>
                    <a:lstStyle/>
                    <a:p>
                      <a:pPr algn="l">
                        <a:lnSpc>
                          <a:spcPts val="3104"/>
                        </a:lnSpc>
                        <a:buNone/>
                      </a:pPr>
                      <a:r>
                        <a:rPr sz="2587" b="1">
                          <a:solidFill>
                            <a:srgbClr val="172B3A"/>
                          </a:solidFill>
                          <a:latin typeface="Arial Bold"/>
                          <a:ea typeface="Arial Bold"/>
                          <a:cs typeface="Arial Bold"/>
                        </a:rPr>
                        <a:t>After pass 2</a:t>
                      </a:r>
                      <a:endParaRPr sz="1100"/>
                    </a:p>
                  </a:txBody>
                  <a:tcPr marL="91440" marR="91440" marT="91440" marB="91440" anchor="ctr">
                    <a:lnL w="9525" cmpd="sng">
                      <a:solidFill>
                        <a:srgbClr val="CBD5DA"/>
                      </a:solidFill>
                      <a:prstDash val="solid"/>
                    </a:lnL>
                    <a:lnR w="9525" cmpd="sng">
                      <a:solidFill>
                        <a:srgbClr val="CBD5DA"/>
                      </a:solidFill>
                      <a:prstDash val="solid"/>
                    </a:lnR>
                    <a:lnT w="4762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CB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/>
                    <a:lstStyle/>
                    <a:p>
                      <a:pPr algn="ctr">
                        <a:lnSpc>
                          <a:spcPts val="3104"/>
                        </a:lnSpc>
                        <a:buNone/>
                      </a:pPr>
                      <a:r>
                        <a:rPr sz="2587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  <a:endParaRPr sz="1100"/>
                    </a:p>
                  </a:txBody>
                  <a:tcPr marL="91440" marR="91440" marT="91440" marB="91440" anchor="ctr">
                    <a:lnL w="4762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CBD5DA"/>
                      </a:solidFill>
                      <a:prstDash val="solid"/>
                    </a:lnR>
                    <a:lnT w="4762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CB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/>
                    <a:lstStyle/>
                    <a:p>
                      <a:pPr algn="ctr">
                        <a:lnSpc>
                          <a:spcPts val="3104"/>
                        </a:lnSpc>
                        <a:buNone/>
                      </a:pPr>
                      <a:r>
                        <a:rPr sz="2587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  <a:endParaRPr sz="1100"/>
                    </a:p>
                  </a:txBody>
                  <a:tcPr marL="91440" marR="91440" marT="91440" marB="91440" anchor="ctr">
                    <a:lnL w="4762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CBD5DA"/>
                      </a:solidFill>
                      <a:prstDash val="solid"/>
                    </a:lnR>
                    <a:lnT w="4762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CB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/>
                    <a:lstStyle/>
                    <a:p>
                      <a:pPr algn="ctr">
                        <a:lnSpc>
                          <a:spcPts val="3104"/>
                        </a:lnSpc>
                        <a:buNone/>
                      </a:pPr>
                      <a:r>
                        <a:rPr sz="2587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  <a:endParaRPr sz="1100"/>
                    </a:p>
                  </a:txBody>
                  <a:tcPr marL="91440" marR="91440" marT="91440" marB="91440" anchor="ctr">
                    <a:lnL w="4762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CBD5DA"/>
                      </a:solidFill>
                      <a:prstDash val="solid"/>
                    </a:lnR>
                    <a:lnT w="4762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CB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1933">
                <a:tc>
                  <a:txBody>
                    <a:bodyPr anchor="t"/>
                    <a:lstStyle/>
                    <a:p>
                      <a:pPr algn="l">
                        <a:lnSpc>
                          <a:spcPts val="3104"/>
                        </a:lnSpc>
                        <a:buNone/>
                      </a:pPr>
                      <a:r>
                        <a:rPr sz="2587" b="1">
                          <a:solidFill>
                            <a:srgbClr val="172B3A"/>
                          </a:solidFill>
                          <a:latin typeface="Arial Bold"/>
                          <a:ea typeface="Arial Bold"/>
                          <a:cs typeface="Arial Bold"/>
                        </a:rPr>
                        <a:t>After pass 3</a:t>
                      </a:r>
                      <a:endParaRPr sz="1100"/>
                    </a:p>
                  </a:txBody>
                  <a:tcPr marL="91440" marR="91440" marT="91440" marB="91440" anchor="ctr">
                    <a:lnL w="9525" cmpd="sng">
                      <a:solidFill>
                        <a:srgbClr val="CBD5DA"/>
                      </a:solidFill>
                      <a:prstDash val="solid"/>
                    </a:lnL>
                    <a:lnR w="9525" cmpd="sng">
                      <a:solidFill>
                        <a:srgbClr val="CBD5DA"/>
                      </a:solidFill>
                      <a:prstDash val="solid"/>
                    </a:lnR>
                    <a:lnT w="4762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CBD5DA"/>
                      </a:solidFill>
                      <a:prstDash val="solid"/>
                    </a:lnB>
                    <a:solidFill>
                      <a:srgbClr val="EEF3F3"/>
                    </a:solidFill>
                  </a:tcPr>
                </a:tc>
                <a:tc>
                  <a:txBody>
                    <a:bodyPr anchor="t"/>
                    <a:lstStyle/>
                    <a:p>
                      <a:pPr algn="ctr">
                        <a:lnSpc>
                          <a:spcPts val="3104"/>
                        </a:lnSpc>
                        <a:buNone/>
                      </a:pPr>
                      <a:r>
                        <a:rPr sz="2587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  <a:endParaRPr sz="1100"/>
                    </a:p>
                  </a:txBody>
                  <a:tcPr marL="91440" marR="91440" marT="91440" marB="91440" anchor="ctr">
                    <a:lnL w="4762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CBD5DA"/>
                      </a:solidFill>
                      <a:prstDash val="solid"/>
                    </a:lnR>
                    <a:lnT w="4762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CBD5DA"/>
                      </a:solidFill>
                      <a:prstDash val="solid"/>
                    </a:lnB>
                    <a:solidFill>
                      <a:srgbClr val="EEF3F3"/>
                    </a:solidFill>
                  </a:tcPr>
                </a:tc>
                <a:tc>
                  <a:txBody>
                    <a:bodyPr anchor="t"/>
                    <a:lstStyle/>
                    <a:p>
                      <a:pPr algn="ctr">
                        <a:lnSpc>
                          <a:spcPts val="3104"/>
                        </a:lnSpc>
                        <a:buNone/>
                      </a:pPr>
                      <a:r>
                        <a:rPr sz="2587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  <a:endParaRPr sz="1100"/>
                    </a:p>
                  </a:txBody>
                  <a:tcPr marL="91440" marR="91440" marT="91440" marB="91440" anchor="ctr">
                    <a:lnL w="4762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CBD5DA"/>
                      </a:solidFill>
                      <a:prstDash val="solid"/>
                    </a:lnR>
                    <a:lnT w="4762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CBD5DA"/>
                      </a:solidFill>
                      <a:prstDash val="solid"/>
                    </a:lnB>
                    <a:solidFill>
                      <a:srgbClr val="EEF3F3"/>
                    </a:solidFill>
                  </a:tcPr>
                </a:tc>
                <a:tc>
                  <a:txBody>
                    <a:bodyPr anchor="t"/>
                    <a:lstStyle/>
                    <a:p>
                      <a:pPr algn="ctr">
                        <a:lnSpc>
                          <a:spcPts val="3104"/>
                        </a:lnSpc>
                        <a:buNone/>
                      </a:pPr>
                      <a:r>
                        <a:rPr sz="2587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  <a:endParaRPr sz="1100"/>
                    </a:p>
                  </a:txBody>
                  <a:tcPr marL="91440" marR="91440" marT="91440" marB="91440" anchor="ctr">
                    <a:lnL w="4762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CBD5DA"/>
                      </a:solidFill>
                      <a:prstDash val="solid"/>
                    </a:lnR>
                    <a:lnT w="4762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CBD5DA"/>
                      </a:solidFill>
                      <a:prstDash val="solid"/>
                    </a:lnB>
                    <a:solidFill>
                      <a:srgbClr val="EEF3F3"/>
                    </a:solidFill>
                  </a:tcPr>
                </a:tc>
              </a:tr>
              <a:tr h="721933">
                <a:tc>
                  <a:txBody>
                    <a:bodyPr anchor="t"/>
                    <a:lstStyle/>
                    <a:p>
                      <a:pPr algn="l">
                        <a:lnSpc>
                          <a:spcPts val="3104"/>
                        </a:lnSpc>
                        <a:buNone/>
                      </a:pPr>
                      <a:r>
                        <a:rPr sz="2587" b="1">
                          <a:solidFill>
                            <a:srgbClr val="172B3A"/>
                          </a:solidFill>
                          <a:latin typeface="Arial Bold"/>
                          <a:ea typeface="Arial Bold"/>
                          <a:cs typeface="Arial Bold"/>
                        </a:rPr>
                        <a:t>After pass 4</a:t>
                      </a:r>
                      <a:endParaRPr sz="1100"/>
                    </a:p>
                  </a:txBody>
                  <a:tcPr marL="91440" marR="91440" marT="91440" marB="91440" anchor="ctr">
                    <a:lnL w="9525" cmpd="sng">
                      <a:solidFill>
                        <a:srgbClr val="CBD5DA"/>
                      </a:solidFill>
                      <a:prstDash val="solid"/>
                    </a:lnL>
                    <a:lnR w="9525" cmpd="sng">
                      <a:solidFill>
                        <a:srgbClr val="CBD5DA"/>
                      </a:solidFill>
                      <a:prstDash val="solid"/>
                    </a:lnR>
                    <a:lnT w="4762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CB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/>
                    <a:lstStyle/>
                    <a:p>
                      <a:pPr algn="ctr">
                        <a:lnSpc>
                          <a:spcPts val="3104"/>
                        </a:lnSpc>
                        <a:buNone/>
                      </a:pPr>
                      <a:r>
                        <a:rPr sz="2587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  <a:endParaRPr sz="1100"/>
                    </a:p>
                  </a:txBody>
                  <a:tcPr marL="91440" marR="91440" marT="91440" marB="91440" anchor="ctr">
                    <a:lnL w="4762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CBD5DA"/>
                      </a:solidFill>
                      <a:prstDash val="solid"/>
                    </a:lnR>
                    <a:lnT w="4762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CB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/>
                    <a:lstStyle/>
                    <a:p>
                      <a:pPr algn="ctr">
                        <a:lnSpc>
                          <a:spcPts val="3104"/>
                        </a:lnSpc>
                        <a:buNone/>
                      </a:pPr>
                      <a:r>
                        <a:rPr sz="2587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  <a:endParaRPr sz="1100"/>
                    </a:p>
                  </a:txBody>
                  <a:tcPr marL="91440" marR="91440" marT="91440" marB="91440" anchor="ctr">
                    <a:lnL w="4762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CBD5DA"/>
                      </a:solidFill>
                      <a:prstDash val="solid"/>
                    </a:lnR>
                    <a:lnT w="4762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CB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/>
                    <a:lstStyle/>
                    <a:p>
                      <a:pPr algn="ctr">
                        <a:lnSpc>
                          <a:spcPts val="3104"/>
                        </a:lnSpc>
                        <a:buNone/>
                      </a:pPr>
                      <a:r>
                        <a:rPr sz="2587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  <a:endParaRPr sz="1100"/>
                    </a:p>
                  </a:txBody>
                  <a:tcPr marL="91440" marR="91440" marT="91440" marB="91440" anchor="ctr">
                    <a:lnL w="4762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CBD5DA"/>
                      </a:solidFill>
                      <a:prstDash val="solid"/>
                    </a:lnR>
                    <a:lnT w="4762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CB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1933">
                <a:tc>
                  <a:txBody>
                    <a:bodyPr anchor="t"/>
                    <a:lstStyle/>
                    <a:p>
                      <a:pPr algn="l">
                        <a:lnSpc>
                          <a:spcPts val="3104"/>
                        </a:lnSpc>
                        <a:buNone/>
                      </a:pPr>
                      <a:r>
                        <a:rPr sz="2587" b="1">
                          <a:solidFill>
                            <a:srgbClr val="172B3A"/>
                          </a:solidFill>
                          <a:latin typeface="Arial Bold"/>
                          <a:ea typeface="Arial Bold"/>
                          <a:cs typeface="Arial Bold"/>
                        </a:rPr>
                        <a:t>Predicted pass 5</a:t>
                      </a:r>
                      <a:endParaRPr sz="1100"/>
                    </a:p>
                  </a:txBody>
                  <a:tcPr marL="91440" marR="91440" marT="91440" marB="91440" anchor="ctr">
                    <a:lnL w="9525" cmpd="sng">
                      <a:solidFill>
                        <a:srgbClr val="CBD5DA"/>
                      </a:solidFill>
                      <a:prstDash val="solid"/>
                    </a:lnL>
                    <a:lnR w="9525" cmpd="sng">
                      <a:solidFill>
                        <a:srgbClr val="CBD5DA"/>
                      </a:solidFill>
                      <a:prstDash val="solid"/>
                    </a:lnR>
                    <a:lnT w="4762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CBD5DA"/>
                      </a:solidFill>
                      <a:prstDash val="solid"/>
                    </a:lnB>
                    <a:solidFill>
                      <a:srgbClr val="EEF3F3"/>
                    </a:solidFill>
                  </a:tcPr>
                </a:tc>
                <a:tc>
                  <a:txBody>
                    <a:bodyPr anchor="t"/>
                    <a:lstStyle/>
                    <a:p>
                      <a:pPr algn="ctr">
                        <a:lnSpc>
                          <a:spcPts val="3104"/>
                        </a:lnSpc>
                        <a:buNone/>
                      </a:pPr>
                      <a:r>
                        <a:rPr sz="2587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  <a:endParaRPr sz="1100"/>
                    </a:p>
                  </a:txBody>
                  <a:tcPr marL="91440" marR="91440" marT="91440" marB="91440" anchor="ctr">
                    <a:lnL w="4762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CBD5DA"/>
                      </a:solidFill>
                      <a:prstDash val="solid"/>
                    </a:lnR>
                    <a:lnT w="4762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CBD5DA"/>
                      </a:solidFill>
                      <a:prstDash val="solid"/>
                    </a:lnB>
                    <a:solidFill>
                      <a:srgbClr val="EEF3F3"/>
                    </a:solidFill>
                  </a:tcPr>
                </a:tc>
                <a:tc>
                  <a:txBody>
                    <a:bodyPr anchor="t"/>
                    <a:lstStyle/>
                    <a:p>
                      <a:pPr algn="ctr">
                        <a:lnSpc>
                          <a:spcPts val="3104"/>
                        </a:lnSpc>
                        <a:buNone/>
                      </a:pPr>
                      <a:r>
                        <a:rPr sz="2587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  <a:endParaRPr sz="1100"/>
                    </a:p>
                  </a:txBody>
                  <a:tcPr marL="91440" marR="91440" marT="91440" marB="91440" anchor="ctr">
                    <a:lnL w="4762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CBD5DA"/>
                      </a:solidFill>
                      <a:prstDash val="solid"/>
                    </a:lnR>
                    <a:lnT w="4762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CBD5DA"/>
                      </a:solidFill>
                      <a:prstDash val="solid"/>
                    </a:lnB>
                    <a:solidFill>
                      <a:srgbClr val="EEF3F3"/>
                    </a:solidFill>
                  </a:tcPr>
                </a:tc>
                <a:tc>
                  <a:txBody>
                    <a:bodyPr anchor="t"/>
                    <a:lstStyle/>
                    <a:p>
                      <a:pPr algn="ctr">
                        <a:lnSpc>
                          <a:spcPts val="3104"/>
                        </a:lnSpc>
                        <a:buNone/>
                      </a:pPr>
                      <a:r>
                        <a:rPr sz="2587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  <a:endParaRPr sz="1100"/>
                    </a:p>
                  </a:txBody>
                  <a:tcPr marL="91440" marR="91440" marT="91440" marB="91440" anchor="ctr">
                    <a:lnL w="4762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CBD5DA"/>
                      </a:solidFill>
                      <a:prstDash val="solid"/>
                    </a:lnR>
                    <a:lnT w="4762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CBD5DA"/>
                      </a:solidFill>
                      <a:prstDash val="solid"/>
                    </a:lnB>
                    <a:solidFill>
                      <a:srgbClr val="EEF3F3"/>
                    </a:solidFill>
                  </a:tcPr>
                </a:tc>
              </a:tr>
            </a:tbl>
          </a:graphicData>
        </a:graphic>
      </p:graphicFrame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6594B347-AA5A-4E7C-AD20-64613A4F1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4425" y="8420100"/>
            <a:ext cx="15287625" cy="3771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ts val="2970"/>
              </a:lnSpc>
              <a:spcBef>
                <a:spcPct val="0"/>
              </a:spcBef>
              <a:buNone/>
            </a:pPr>
            <a:r>
              <a:rPr sz="2475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Passes 1–4 matched the VNMSim screenshots. We stopped the simulation manually.</a:t>
            </a:r>
          </a:p>
        </p:txBody>
      </p:sp>
    </p:spTree>
    <p:extLst>
      <p:ext uri="{BB962C8B-B14F-4D97-AF65-F5344CB8AC3E}">
        <p14:creationId xmlns:p14="http://schemas.microsoft.com/office/powerpoint/2010/main" val="39764478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CC6619FA-4030-47A9-B779-DA18C38DE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d7874f0ad41410e"/>
            <a:stretch>
              <a:fillRect l="-1049" t="-1049" r="-1049" b="-1049"/>
            </a:stretch>
          </a:blipFill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DD1BC02B-4A48-4BB7-AB1E-D6F5F1F5E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714375"/>
            <a:ext cx="160020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7289"/>
              </a:lnSpc>
              <a:buNone/>
            </a:pPr>
            <a:r>
              <a:rPr sz="6075" b="1">
                <a:solidFill>
                  <a:srgbClr val="FFFFFF"/>
                </a:solidFill>
                <a:latin typeface="Arial Bold"/>
                <a:ea typeface="Arial Bold"/>
                <a:cs typeface="Arial Bold"/>
              </a:rPr>
              <a:t>Teamwork and AI assistance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93AB75DF-67DE-4FDD-BEE8-BCEE803AC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859250" y="9625012"/>
            <a:ext cx="571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60"/>
              </a:lnSpc>
              <a:buNone/>
            </a:pPr>
            <a:r>
              <a:rPr sz="1800">
                <a:solidFill>
                  <a:srgbClr val="53667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CE12A211-1479-41E2-81C6-7061017BA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4425" y="2266950"/>
            <a:ext cx="6143625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644"/>
              </a:lnSpc>
              <a:buNone/>
            </a:pPr>
            <a:r>
              <a:rPr sz="3037" b="1">
                <a:solidFill>
                  <a:srgbClr val="D7E2EA"/>
                </a:solidFill>
                <a:latin typeface="Arial Bold"/>
                <a:ea typeface="Arial Bold"/>
                <a:cs typeface="Arial Bold"/>
              </a:rPr>
              <a:t>AI assistance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EA26DDCA-9C3E-4754-908B-B4A1F6741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4425" y="2995612"/>
            <a:ext cx="7215188" cy="2143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375"/>
              </a:lnSpc>
              <a:buNone/>
            </a:pPr>
            <a:r>
              <a:rPr sz="2812">
                <a:solidFill>
                  <a:srgbClr val="FFFFFF"/>
                </a:solidFill>
                <a:latin typeface="Arial"/>
                <a:ea typeface="Arial"/>
                <a:cs typeface="Arial"/>
              </a:rPr>
              <a:t>AI gave us a draft of the rolling loop and explained JMP 5. We checked the target and first four register states in VNMSim. AI also suggested a counter with JMZ for a finite run. We did not implement or test that option.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463A881A-3820-4755-B7BE-36E57F361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29750" y="2266950"/>
            <a:ext cx="7572375" cy="462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644"/>
              </a:lnSpc>
              <a:buNone/>
            </a:pPr>
            <a:r>
              <a:rPr sz="3037" b="1">
                <a:solidFill>
                  <a:srgbClr val="D7E2EA"/>
                </a:solidFill>
                <a:latin typeface="Arial Bold"/>
                <a:ea typeface="Arial Bold"/>
                <a:cs typeface="Arial Bold"/>
              </a:rPr>
              <a:t>Suggested speaking split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42D26235-26F5-4996-85B9-57B4E9ECD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29750" y="2995612"/>
            <a:ext cx="7715250" cy="12344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buNone/>
            </a:pPr>
            <a:r>
              <a:rPr sz="2700">
                <a:solidFill>
                  <a:srgbClr val="FFFFFF"/>
                </a:solidFill>
                <a:latin typeface="Arial"/>
                <a:ea typeface="Arial"/>
                <a:cs typeface="Arial"/>
              </a:rPr>
              <a:t>Nikita: explain the task and Fibonacci rule</a:t>
            </a:r>
          </a:p>
          <a:p xmlns:a="http://schemas.openxmlformats.org/drawingml/2006/main">
            <a:pPr algn="l">
              <a:lnSpc>
                <a:spcPts val="3240"/>
              </a:lnSpc>
              <a:buNone/>
            </a:pPr>
            <a:r>
              <a:rPr sz="2700">
                <a:solidFill>
                  <a:srgbClr val="FFFFFF"/>
                </a:solidFill>
                <a:latin typeface="Arial"/>
                <a:ea typeface="Arial"/>
                <a:cs typeface="Arial"/>
              </a:rPr>
              <a:t>Kevin: explain the code and registers</a:t>
            </a:r>
          </a:p>
          <a:p xmlns:a="http://schemas.openxmlformats.org/drawingml/2006/main">
            <a:pPr algn="l">
              <a:lnSpc>
                <a:spcPts val="3240"/>
              </a:lnSpc>
              <a:buNone/>
            </a:pPr>
            <a:r>
              <a:rPr sz="2700">
                <a:solidFill>
                  <a:srgbClr val="FFFFFF"/>
                </a:solidFill>
                <a:latin typeface="Arial"/>
                <a:ea typeface="Arial"/>
                <a:cs typeface="Arial"/>
              </a:rPr>
              <a:t>Illia: show the test results and AI use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7B7BEC21-3044-4A5B-9BD3-CD3300AE7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4425" y="7124700"/>
            <a:ext cx="15430500" cy="462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644"/>
              </a:lnSpc>
              <a:buNone/>
            </a:pPr>
            <a:r>
              <a:rPr sz="3037" b="1">
                <a:solidFill>
                  <a:srgbClr val="FFFFFF"/>
                </a:solidFill>
                <a:latin typeface="Arial Bold"/>
                <a:ea typeface="Arial Bold"/>
                <a:cs typeface="Arial Bold"/>
              </a:rPr>
              <a:t>Confirm this split with the team. All three members should speak.</a:t>
            </a:r>
          </a:p>
        </p:txBody>
      </p:sp>
    </p:spTree>
    <p:extLst>
      <p:ext uri="{BB962C8B-B14F-4D97-AF65-F5344CB8AC3E}">
        <p14:creationId xmlns:p14="http://schemas.microsoft.com/office/powerpoint/2010/main" val="80410976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3EFCD96D-41FB-470A-B09A-81A69D0AE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fd28b45a94e4dad"/>
            <a:stretch>
              <a:fillRect l="-1049" t="-1049" r="-1049" b="-1049"/>
            </a:stretch>
          </a:blipFill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D06A574B-51DD-45E9-94CA-E30C372D4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714375"/>
            <a:ext cx="160020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7289"/>
              </a:lnSpc>
              <a:buNone/>
            </a:pPr>
            <a:r>
              <a:rPr sz="6075" b="1">
                <a:solidFill>
                  <a:srgbClr val="D7E2EA"/>
                </a:solidFill>
                <a:latin typeface="Arial Bold"/>
                <a:ea typeface="Arial Bold"/>
                <a:cs typeface="Arial Bold"/>
              </a:rPr>
              <a:t>What the program shows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E6B6C9A6-2974-4CAB-9966-433A896D9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859250" y="9625012"/>
            <a:ext cx="571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60"/>
              </a:lnSpc>
              <a:buNone/>
            </a:pPr>
            <a:r>
              <a:rPr sz="1800">
                <a:solidFill>
                  <a:srgbClr val="53667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FB5DFEDD-6D4E-4EF8-A7DB-CC5DB905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4425" y="2352675"/>
            <a:ext cx="6858000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644"/>
              </a:lnSpc>
              <a:buNone/>
            </a:pPr>
            <a:r>
              <a:rPr sz="3037" b="1">
                <a:solidFill>
                  <a:srgbClr val="087E83"/>
                </a:solidFill>
                <a:latin typeface="Arial Bold"/>
                <a:ea typeface="Arial Bold"/>
                <a:cs typeface="Arial Bold"/>
              </a:rPr>
              <a:t>What works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77C03231-FC15-431A-8222-C2021041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4425" y="3109912"/>
            <a:ext cx="7143750" cy="25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buNone/>
            </a:pPr>
            <a:r>
              <a:rPr sz="2700">
                <a:solidFill>
                  <a:srgbClr val="FFFFFF"/>
                </a:solidFill>
                <a:latin typeface="Arial"/>
                <a:ea typeface="Arial"/>
                <a:cs typeface="Arial"/>
              </a:rPr>
              <a:t>It repeats the Fibonacci addition rule.</a:t>
            </a:r>
          </a:p>
          <a:p xmlns:a="http://schemas.openxmlformats.org/drawingml/2006/main">
            <a:pPr algn="l">
              <a:lnSpc>
                <a:spcPts val="3240"/>
              </a:lnSpc>
              <a:buNone/>
            </a:pPr>
            <a:r>
              <a:rPr sz="2700">
                <a:solidFill>
                  <a:srgbClr val="FFFFFF"/>
                </a:solidFill>
                <a:latin typeface="Arial"/>
                <a:ea typeface="Arial"/>
                <a:cs typeface="Arial"/>
              </a:rPr>
              <a:t>It uses JMP to return to the loop.</a:t>
            </a:r>
          </a:p>
          <a:p xmlns:a="http://schemas.openxmlformats.org/drawingml/2006/main">
            <a:pPr algn="l">
              <a:lnSpc>
                <a:spcPts val="3240"/>
              </a:lnSpc>
              <a:buNone/>
            </a:pPr>
            <a:r>
              <a:rPr sz="2700">
                <a:solidFill>
                  <a:srgbClr val="FFFFFF"/>
                </a:solidFill>
                <a:latin typeface="Arial"/>
                <a:ea typeface="Arial"/>
                <a:cs typeface="Arial"/>
              </a:rPr>
              <a:t>Three registers are enough for the rolling calculation.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AB6F7A6C-1A17-409D-9285-97C54717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72625" y="2352675"/>
            <a:ext cx="7143750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644"/>
              </a:lnSpc>
              <a:buNone/>
            </a:pPr>
            <a:r>
              <a:rPr sz="3037" b="1">
                <a:solidFill>
                  <a:srgbClr val="087E83"/>
                </a:solidFill>
                <a:latin typeface="Arial Bold"/>
                <a:ea typeface="Arial Bold"/>
                <a:cs typeface="Arial Bold"/>
              </a:rPr>
              <a:t>Current limits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78215682-0CD3-4108-8BCD-B2B229997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72625" y="3109912"/>
            <a:ext cx="7429500" cy="2162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buNone/>
            </a:pPr>
            <a:r>
              <a:rPr sz="270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loop has no stop condition.</a:t>
            </a:r>
          </a:p>
          <a:p xmlns:a="http://schemas.openxmlformats.org/drawingml/2006/main">
            <a:pPr algn="l">
              <a:lnSpc>
                <a:spcPts val="3240"/>
              </a:lnSpc>
              <a:buNone/>
            </a:pPr>
            <a:r>
              <a:rPr sz="2700">
                <a:solidFill>
                  <a:srgbClr val="FFFFFF"/>
                </a:solidFill>
                <a:latin typeface="Arial"/>
                <a:ea typeface="Arial"/>
                <a:cs typeface="Arial"/>
              </a:rPr>
              <a:t>Older terms are overwritten, so the full sequence is not kept.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41CF3D07-AAC8-4A3D-AD01-CB028AEE3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4425" y="6924675"/>
            <a:ext cx="15573375" cy="4457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510"/>
              </a:lnSpc>
              <a:buNone/>
            </a:pPr>
            <a:r>
              <a:rPr sz="2925" b="1">
                <a:solidFill>
                  <a:srgbClr val="D7E2EA"/>
                </a:solidFill>
                <a:latin typeface="Arial Bold"/>
                <a:ea typeface="Arial Bold"/>
                <a:cs typeface="Arial Bold"/>
              </a:rPr>
              <a:t>A counter with JMZ is a possible next step, but we did not test it.</a:t>
            </a:r>
          </a:p>
        </p:txBody>
      </p:sp>
    </p:spTree>
    <p:extLst>
      <p:ext uri="{BB962C8B-B14F-4D97-AF65-F5344CB8AC3E}">
        <p14:creationId xmlns:p14="http://schemas.microsoft.com/office/powerpoint/2010/main" val="151889990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2026-10-23T18:26:16.6710000Z</dcterms:created>
  <dcterms:modified xsi:type="dcterms:W3CDTF">2026-10-23T18:26:16.6710000Z</dcterms:modified>
</coreProperties>
</file>